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7"/>
  </p:notesMasterIdLst>
  <p:sldIdLst>
    <p:sldId id="256" r:id="rId2"/>
    <p:sldId id="258" r:id="rId3"/>
    <p:sldId id="265" r:id="rId4"/>
    <p:sldId id="266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9" r:id="rId13"/>
    <p:sldId id="270" r:id="rId14"/>
    <p:sldId id="271" r:id="rId15"/>
    <p:sldId id="272" r:id="rId16"/>
    <p:sldId id="273" r:id="rId17"/>
    <p:sldId id="277" r:id="rId18"/>
    <p:sldId id="281" r:id="rId19"/>
    <p:sldId id="282" r:id="rId20"/>
    <p:sldId id="274" r:id="rId21"/>
    <p:sldId id="279" r:id="rId22"/>
    <p:sldId id="280" r:id="rId23"/>
    <p:sldId id="275" r:id="rId24"/>
    <p:sldId id="276" r:id="rId25"/>
    <p:sldId id="27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2143" autoAdjust="0"/>
  </p:normalViewPr>
  <p:slideViewPr>
    <p:cSldViewPr>
      <p:cViewPr varScale="1">
        <p:scale>
          <a:sx n="75" d="100"/>
          <a:sy n="75" d="100"/>
        </p:scale>
        <p:origin x="-181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66829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Sau</a:t>
            </a:r>
            <a:r>
              <a:rPr lang="en-US" baseline="0" dirty="0" smtClean="0"/>
              <a:t> if() {}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else{} KHÔNG BAO H CÓ DẤU CHẤM PHẢY “;”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08660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Nếu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bạn</a:t>
            </a:r>
            <a:r>
              <a:rPr lang="en-US" baseline="0" dirty="0" smtClean="0"/>
              <a:t> dung Sublime </a:t>
            </a:r>
            <a:r>
              <a:rPr lang="en-US" baseline="0" dirty="0" err="1" smtClean="0"/>
              <a:t>hoặc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một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IDE </a:t>
            </a:r>
            <a:r>
              <a:rPr lang="en-US" baseline="0" dirty="0" err="1" smtClean="0"/>
              <a:t>khác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Netbeans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PHPStorm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chú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thích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bằng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bôi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comment </a:t>
            </a:r>
            <a:r>
              <a:rPr lang="en-US" baseline="0" dirty="0" err="1" smtClean="0"/>
              <a:t>rồi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ấn</a:t>
            </a:r>
            <a:r>
              <a:rPr lang="en-US" baseline="0" dirty="0" smtClean="0"/>
              <a:t> CTRL + “/” (</a:t>
            </a:r>
            <a:r>
              <a:rPr lang="en-US" baseline="0" dirty="0" err="1" smtClean="0"/>
              <a:t>xược</a:t>
            </a:r>
            <a:r>
              <a:rPr lang="en-US" baseline="0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70597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Dấu</a:t>
            </a:r>
            <a:r>
              <a:rPr lang="en-US" baseline="0" dirty="0" smtClean="0"/>
              <a:t> “=“ và dấu “==“ và dấu “===“ có khác gì nhau không</a:t>
            </a:r>
          </a:p>
          <a:p>
            <a:r>
              <a:rPr lang="en-US" baseline="0" dirty="0" smtClean="0"/>
              <a:t>. Dấu “=“ dùng để gán giá trị, không trả về </a:t>
            </a:r>
            <a:r>
              <a:rPr lang="en-US" baseline="0" dirty="0" err="1" smtClean="0"/>
              <a:t>cái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gì</a:t>
            </a:r>
            <a:r>
              <a:rPr lang="en-US" baseline="0" dirty="0" smtClean="0"/>
              <a:t> (void)</a:t>
            </a:r>
          </a:p>
          <a:p>
            <a:r>
              <a:rPr lang="en-US" baseline="0" dirty="0" smtClean="0"/>
              <a:t>. Dấu “==“ dùng để kiểm tra giá trị 2 bên, trả về ĐÚNG / SAI. Thường dùng trong biểu thức logic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. Dấu “===“ dùng để kiểm tra giá trị và cùng kiểu, trả về ĐÚNG / SAI. Thường dùng trong biểu thức logic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44772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bạn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suy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nghĩ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theo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sơ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đồ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mình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hôm</a:t>
            </a:r>
            <a:r>
              <a:rPr lang="en-US" baseline="0" dirty="0" smtClean="0"/>
              <a:t> qua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08677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Chỉ</a:t>
            </a:r>
            <a:r>
              <a:rPr lang="en-US" baseline="0" smtClean="0"/>
              <a:t> mục luôn chạy từ số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35247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Nếu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dụng</a:t>
            </a:r>
            <a:r>
              <a:rPr lang="en-US" baseline="0" dirty="0" smtClean="0"/>
              <a:t> if-else,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gặp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điều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đúng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còn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chấm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dứt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được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smtClean="0"/>
              <a:t>thi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6761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Chú ý, sử dụng == hoặc === trong if()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2168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Yêu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nâng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cao</a:t>
            </a:r>
            <a:r>
              <a:rPr lang="en-US" baseline="0" dirty="0" smtClean="0"/>
              <a:t> 1: </a:t>
            </a:r>
            <a:r>
              <a:rPr lang="en-US" baseline="0" dirty="0" err="1" smtClean="0"/>
              <a:t>Kiểm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xem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nhập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nằm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khoảng</a:t>
            </a:r>
            <a:r>
              <a:rPr lang="en-US" baseline="0" dirty="0" smtClean="0"/>
              <a:t> 1-12 hay </a:t>
            </a:r>
            <a:r>
              <a:rPr lang="en-US" baseline="0" dirty="0" err="1" smtClean="0"/>
              <a:t>ko</a:t>
            </a:r>
            <a:endParaRPr lang="en-US" baseline="0" dirty="0" smtClean="0"/>
          </a:p>
          <a:p>
            <a:r>
              <a:rPr lang="en-US" baseline="0" dirty="0" err="1" smtClean="0"/>
              <a:t>Yêu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nâng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cao</a:t>
            </a:r>
            <a:r>
              <a:rPr lang="en-US" baseline="0" dirty="0" smtClean="0"/>
              <a:t> 2: </a:t>
            </a:r>
            <a:r>
              <a:rPr lang="en-US" baseline="0" dirty="0" err="1" smtClean="0"/>
              <a:t>Kiểm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xem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nhập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phải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số</a:t>
            </a:r>
            <a:r>
              <a:rPr lang="en-US" baseline="0" dirty="0" smtClean="0"/>
              <a:t> hay </a:t>
            </a:r>
            <a:r>
              <a:rPr lang="en-US" baseline="0" dirty="0" err="1" smtClean="0"/>
              <a:t>ko</a:t>
            </a:r>
            <a:endParaRPr lang="en-US" dirty="0" smtClean="0"/>
          </a:p>
          <a:p>
            <a:r>
              <a:rPr lang="en-US" dirty="0" err="1" smtClean="0"/>
              <a:t>Yêu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nâng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cao</a:t>
            </a:r>
            <a:r>
              <a:rPr lang="en-US" baseline="0" dirty="0" smtClean="0"/>
              <a:t> 3: </a:t>
            </a:r>
            <a:r>
              <a:rPr lang="en-US" dirty="0" err="1" smtClean="0"/>
              <a:t>Nếu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gian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lấy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trong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máy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kiểm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765A4-D309-444E-9276-0B2CD25A6C2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5173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pPr/>
              <a:t>7/27/2016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3600"/>
            <a:ext cx="8458200" cy="2304288"/>
          </a:xfrm>
        </p:spPr>
        <p:txBody>
          <a:bodyPr/>
          <a:lstStyle/>
          <a:p>
            <a:pPr algn="r"/>
            <a:r>
              <a:rPr lang="en-US" sz="5400" dirty="0" err="1" smtClean="0">
                <a:solidFill>
                  <a:schemeClr val="accent3">
                    <a:lumMod val="50000"/>
                  </a:schemeClr>
                </a:solidFill>
              </a:rPr>
              <a:t>Khóa</a:t>
            </a:r>
            <a:r>
              <a:rPr lang="en-US" sz="5400" dirty="0" smtClean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5400" dirty="0" err="1" smtClean="0">
                <a:solidFill>
                  <a:schemeClr val="accent3">
                    <a:lumMod val="50000"/>
                  </a:schemeClr>
                </a:solidFill>
              </a:rPr>
              <a:t>đào</a:t>
            </a:r>
            <a:r>
              <a:rPr lang="en-US" sz="5400" dirty="0" smtClean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5400" dirty="0" err="1" smtClean="0">
                <a:solidFill>
                  <a:schemeClr val="accent3">
                    <a:lumMod val="50000"/>
                  </a:schemeClr>
                </a:solidFill>
              </a:rPr>
              <a:t>tạo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4800" b="1" dirty="0" err="1" smtClean="0"/>
              <a:t>Lập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trình</a:t>
            </a:r>
            <a:r>
              <a:rPr lang="en-US" sz="4800" b="1" dirty="0" smtClean="0"/>
              <a:t> </a:t>
            </a:r>
            <a:r>
              <a:rPr lang="en-US" sz="4800" b="1" dirty="0"/>
              <a:t>W</a:t>
            </a:r>
            <a:r>
              <a:rPr lang="en-US" sz="4800" b="1" dirty="0" smtClean="0"/>
              <a:t>eb </a:t>
            </a:r>
            <a:r>
              <a:rPr lang="en-US" sz="4800" b="1" dirty="0" err="1" smtClean="0"/>
              <a:t>sử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dụng</a:t>
            </a:r>
            <a:r>
              <a:rPr lang="en-US" sz="4800" b="1" dirty="0" smtClean="0"/>
              <a:t> PHP</a:t>
            </a:r>
            <a:endParaRPr lang="en-US" sz="3200" b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600200"/>
            <a:ext cx="845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553" y="309945"/>
            <a:ext cx="4124325" cy="9048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557392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Day 2: Những câu lệnh cơ 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US" dirty="0" smtClean="0"/>
              <a:t>Cách khai báo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Toán tử cơ bản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Kiểu dữ liệu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Hằng số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 smtClean="0"/>
              <a:t>Điều kiện và câu lệnh rẽ nhánh</a:t>
            </a:r>
          </a:p>
        </p:txBody>
      </p:sp>
    </p:spTree>
    <p:extLst>
      <p:ext uri="{BB962C8B-B14F-4D97-AF65-F5344CB8AC3E}">
        <p14:creationId xmlns="" xmlns:p14="http://schemas.microsoft.com/office/powerpoint/2010/main" val="272395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Cách khai báo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>
                <a:latin typeface="Calibri (Body)"/>
              </a:rPr>
              <a:t>Biến trong PHP có tiền tố là </a:t>
            </a:r>
            <a:r>
              <a:rPr lang="vi-VN" dirty="0" smtClean="0">
                <a:latin typeface="Calibri (Body)"/>
              </a:rPr>
              <a:t>$</a:t>
            </a:r>
            <a:endParaRPr lang="en-US" dirty="0" smtClean="0">
              <a:latin typeface="Calibri (Body)"/>
            </a:endParaRP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$a; $b; $_c;</a:t>
            </a:r>
          </a:p>
          <a:p>
            <a:pPr marL="114300" indent="0">
              <a:buNone/>
            </a:pPr>
            <a:endParaRPr lang="vi-VN" dirty="0">
              <a:latin typeface="Calibri (Body)"/>
            </a:endParaRPr>
          </a:p>
          <a:p>
            <a:r>
              <a:rPr lang="vi-VN" dirty="0">
                <a:latin typeface="Calibri (Body)"/>
              </a:rPr>
              <a:t>Mỗi phương thức đều bắt đầu { và đóng bằng dấu </a:t>
            </a:r>
            <a:r>
              <a:rPr lang="vi-VN" dirty="0" smtClean="0">
                <a:latin typeface="Calibri (Body)"/>
              </a:rPr>
              <a:t>}</a:t>
            </a:r>
            <a:endParaRPr lang="en-US" dirty="0" smtClean="0">
              <a:latin typeface="Calibri (Body)"/>
            </a:endParaRPr>
          </a:p>
          <a:p>
            <a:endParaRPr lang="en-US" dirty="0">
              <a:latin typeface="Calibri (Body)"/>
            </a:endParaRPr>
          </a:p>
          <a:p>
            <a:pPr marL="114300" indent="0">
              <a:buNone/>
            </a:pPr>
            <a:r>
              <a:rPr lang="en-US" dirty="0" smtClean="0">
                <a:latin typeface="Calibri (Body)"/>
              </a:rPr>
              <a:t>Ví dụ: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If($a &gt; 5) {</a:t>
            </a:r>
          </a:p>
          <a:p>
            <a:pPr marL="11430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 smtClean="0">
                <a:cs typeface="Courier New" panose="02070309020205020404" pitchFamily="49" charset="0"/>
              </a:rPr>
              <a:t>Không cần khai báo kiểu dữ liệu </a:t>
            </a:r>
            <a:r>
              <a:rPr lang="en-US" dirty="0" err="1" smtClean="0">
                <a:cs typeface="Courier New" panose="02070309020205020404" pitchFamily="49" charset="0"/>
              </a:rPr>
              <a:t>trong</a:t>
            </a:r>
            <a:r>
              <a:rPr lang="en-US" dirty="0" smtClean="0">
                <a:cs typeface="Courier New" panose="02070309020205020404" pitchFamily="49" charset="0"/>
              </a:rPr>
              <a:t> PHP</a:t>
            </a:r>
          </a:p>
          <a:p>
            <a:r>
              <a:rPr lang="en-US" b="1" dirty="0" err="1" smtClean="0">
                <a:cs typeface="Courier New" panose="02070309020205020404" pitchFamily="49" charset="0"/>
              </a:rPr>
              <a:t>Các</a:t>
            </a:r>
            <a:r>
              <a:rPr lang="en-US" b="1" dirty="0" smtClean="0"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cs typeface="Courier New" panose="02070309020205020404" pitchFamily="49" charset="0"/>
              </a:rPr>
              <a:t>câu</a:t>
            </a:r>
            <a:r>
              <a:rPr lang="en-US" b="1" dirty="0" smtClean="0"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cs typeface="Courier New" panose="02070309020205020404" pitchFamily="49" charset="0"/>
              </a:rPr>
              <a:t>lệnh</a:t>
            </a:r>
            <a:r>
              <a:rPr lang="en-US" b="1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trong</a:t>
            </a:r>
            <a:r>
              <a:rPr lang="en-US" dirty="0" smtClean="0">
                <a:cs typeface="Courier New" panose="02070309020205020404" pitchFamily="49" charset="0"/>
              </a:rPr>
              <a:t> PHP </a:t>
            </a:r>
            <a:r>
              <a:rPr lang="en-US" dirty="0" err="1" smtClean="0">
                <a:cs typeface="Courier New" panose="02070309020205020404" pitchFamily="49" charset="0"/>
              </a:rPr>
              <a:t>đều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kết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thúc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bằng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dấu</a:t>
            </a:r>
            <a:r>
              <a:rPr lang="en-US" dirty="0" smtClean="0">
                <a:cs typeface="Courier New" panose="02070309020205020404" pitchFamily="49" charset="0"/>
              </a:rPr>
              <a:t> “;” (</a:t>
            </a:r>
            <a:r>
              <a:rPr lang="en-US" dirty="0" err="1" smtClean="0">
                <a:cs typeface="Courier New" panose="02070309020205020404" pitchFamily="49" charset="0"/>
              </a:rPr>
              <a:t>chứ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không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phải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cs typeface="Courier New" panose="02070309020205020404" pitchFamily="49" charset="0"/>
              </a:rPr>
              <a:t>sau</a:t>
            </a:r>
            <a:r>
              <a:rPr lang="en-US" dirty="0" smtClean="0">
                <a:cs typeface="Courier New" panose="02070309020205020404" pitchFamily="49" charset="0"/>
              </a:rPr>
              <a:t> </a:t>
            </a:r>
            <a:r>
              <a:rPr lang="en-US" strike="sngStrike" dirty="0" smtClean="0">
                <a:cs typeface="Courier New" panose="02070309020205020404" pitchFamily="49" charset="0"/>
              </a:rPr>
              <a:t>if(){}; </a:t>
            </a:r>
            <a:r>
              <a:rPr lang="en-US" strike="sngStrike" dirty="0" err="1" smtClean="0">
                <a:cs typeface="Courier New" panose="02070309020205020404" pitchFamily="49" charset="0"/>
              </a:rPr>
              <a:t>hoặc</a:t>
            </a:r>
            <a:r>
              <a:rPr lang="en-US" strike="sngStrike" dirty="0" smtClean="0">
                <a:cs typeface="Courier New" panose="02070309020205020404" pitchFamily="49" charset="0"/>
              </a:rPr>
              <a:t> else{};</a:t>
            </a:r>
            <a:endParaRPr lang="vi-VN" strike="sngStrike" dirty="0">
              <a:cs typeface="Courier New" panose="02070309020205020404" pitchFamily="49" charset="0"/>
            </a:endParaRPr>
          </a:p>
          <a:p>
            <a:r>
              <a:rPr lang="vi-VN" dirty="0" smtClean="0">
                <a:latin typeface="Calibri (Body)"/>
              </a:rPr>
              <a:t>Nên có giá trị khởi đầu cho biến khai báo</a:t>
            </a:r>
          </a:p>
        </p:txBody>
      </p:sp>
    </p:spTree>
    <p:extLst>
      <p:ext uri="{BB962C8B-B14F-4D97-AF65-F5344CB8AC3E}">
        <p14:creationId xmlns="" xmlns:p14="http://schemas.microsoft.com/office/powerpoint/2010/main" val="16849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>
                <a:latin typeface="Calibri (Body)"/>
              </a:rPr>
              <a:t>Phải có chi chú (comment) cho mỗi feature </a:t>
            </a:r>
            <a:r>
              <a:rPr lang="vi-VN" dirty="0" smtClean="0">
                <a:latin typeface="Calibri (Body)"/>
              </a:rPr>
              <a:t>mới</a:t>
            </a:r>
            <a:endParaRPr lang="en-US" dirty="0" smtClean="0">
              <a:latin typeface="Calibri (Body)"/>
            </a:endParaRPr>
          </a:p>
          <a:p>
            <a:pPr marL="114300" indent="0">
              <a:buNone/>
            </a:pPr>
            <a:endParaRPr lang="vi-VN" dirty="0">
              <a:latin typeface="Calibri (Body)"/>
            </a:endParaRPr>
          </a:p>
          <a:p>
            <a:r>
              <a:rPr lang="vi-VN" dirty="0">
                <a:latin typeface="Calibri (Body)"/>
              </a:rPr>
              <a:t>Sử dụng dấu // hoặc # để giải thích cho mỗi câu ghi </a:t>
            </a:r>
            <a:r>
              <a:rPr lang="vi-VN" dirty="0" smtClean="0">
                <a:latin typeface="Calibri (Body)"/>
              </a:rPr>
              <a:t>chú</a:t>
            </a:r>
            <a:endParaRPr lang="en-US" dirty="0" smtClean="0">
              <a:latin typeface="Calibri (Body)"/>
            </a:endParaRP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Đây là phần bắt đầu kết nối Cơ sở dữ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liệu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Đây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cũng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là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comment</a:t>
            </a:r>
            <a:endParaRPr lang="vi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vi-VN" dirty="0">
                <a:latin typeface="Calibri (Body)"/>
              </a:rPr>
              <a:t>Sử dụng /* và */ cho mỗi đoạn ghi </a:t>
            </a:r>
            <a:r>
              <a:rPr lang="vi-VN" dirty="0" smtClean="0">
                <a:latin typeface="Calibri (Body)"/>
              </a:rPr>
              <a:t>chú</a:t>
            </a:r>
            <a:endParaRPr lang="en-US" dirty="0" smtClean="0">
              <a:latin typeface="Calibri (Body)"/>
            </a:endParaRP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Đây là comment nhiều dòng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Bắt đầu kết nối cơ sở dữ liệu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Trả về giá trị TRUE/FALSE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vi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vi-VN" dirty="0">
                <a:latin typeface="Calibri (Body)"/>
              </a:rPr>
              <a:t>Khai báo biến có phân biệt chữ hoa hay thường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1574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Với</a:t>
            </a:r>
            <a:r>
              <a:rPr lang="en-US" dirty="0" smtClean="0"/>
              <a:t> biến: ở dưới dạng </a:t>
            </a:r>
            <a:r>
              <a:rPr lang="en-US" dirty="0" err="1" smtClean="0"/>
              <a:t>chữ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(</a:t>
            </a:r>
            <a:r>
              <a:rPr lang="en-US" dirty="0" err="1" smtClean="0"/>
              <a:t>camelCase</a:t>
            </a:r>
            <a:r>
              <a:rPr lang="en-US" dirty="0" smtClean="0"/>
              <a:t>),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“_”</a:t>
            </a:r>
          </a:p>
          <a:p>
            <a:pPr marL="114300" indent="0">
              <a:buNone/>
            </a:pPr>
            <a:r>
              <a:rPr lang="en-US" dirty="0" smtClean="0"/>
              <a:t>Ví dụ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$another_var = 49;$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myAnotherVar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6;</a:t>
            </a:r>
          </a:p>
          <a:p>
            <a:r>
              <a:rPr lang="en-US" dirty="0" smtClean="0"/>
              <a:t>Với hàm (functions): ở dưới dạng chữ cái đầu viết thường, chữ cái đầu của từ thứ 2 viết hoa</a:t>
            </a:r>
          </a:p>
          <a:p>
            <a:pPr marL="114300" indent="0">
              <a:buNone/>
            </a:pPr>
            <a:r>
              <a:rPr lang="en-US" dirty="0" smtClean="0"/>
              <a:t>Ví dụ 		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endParaRPr lang="en-US" dirty="0" smtClean="0"/>
          </a:p>
          <a:p>
            <a:r>
              <a:rPr lang="en-US" dirty="0" smtClean="0"/>
              <a:t>Với hằng số: chữ HOA toàn bộ từ	</a:t>
            </a:r>
            <a:endParaRPr lang="en-US" dirty="0"/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Define(“PI”,3.14) ;	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Define(“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ITEM_PER_PAGE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”,5);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13265336"/>
              </p:ext>
            </p:extLst>
          </p:nvPr>
        </p:nvGraphicFramePr>
        <p:xfrm>
          <a:off x="609600" y="3962400"/>
          <a:ext cx="7467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</a:tblGrid>
              <a:tr h="914400"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 test(){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 testSomethingDone(){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9078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Tên lớp (class): viết hoa chữ cái đầu tiên, tất cả các chữ còn lại viết thường, nếu bao gồm nhiều từ thì phân cách bằng “_”. Sau dấu “_” là chữ cái viết hoa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Để in giá trị ra màn hình, chúng ta dùng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$tenbien </a:t>
            </a:r>
            <a:r>
              <a:rPr lang="en-US" dirty="0" smtClean="0"/>
              <a:t>hoặc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giatri</a:t>
            </a:r>
            <a:r>
              <a:rPr lang="en-US" dirty="0" smtClean="0"/>
              <a:t>;</a:t>
            </a:r>
          </a:p>
          <a:p>
            <a:pPr marL="114300" indent="0">
              <a:buNone/>
            </a:pPr>
            <a:r>
              <a:rPr lang="en-US" dirty="0" smtClean="0"/>
              <a:t>Ví dụ:   $a = 6;</a:t>
            </a: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cho $a;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 in ra 6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cho 6;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 in ra 6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61355926"/>
              </p:ext>
            </p:extLst>
          </p:nvPr>
        </p:nvGraphicFramePr>
        <p:xfrm>
          <a:off x="457200" y="2971800"/>
          <a:ext cx="7620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22860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Class Log() {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 Html_Upload(){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 Handle_Multifiles_Upload(){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59817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Toán tử cơ 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r>
              <a:rPr lang="en-US" dirty="0" smtClean="0"/>
              <a:t>Toán tử gán</a:t>
            </a:r>
          </a:p>
          <a:p>
            <a:pPr marL="114300" indent="0">
              <a:buNone/>
            </a:pPr>
            <a:r>
              <a:rPr lang="en-US" dirty="0" smtClean="0"/>
              <a:t>$var = 5;</a:t>
            </a:r>
          </a:p>
          <a:p>
            <a:pPr marL="11430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 Gán giá trị “</a:t>
            </a:r>
            <a:r>
              <a:rPr lang="en-US" b="1" dirty="0" smtClean="0">
                <a:sym typeface="Wingdings" panose="05000000000000000000" pitchFamily="2" charset="2"/>
              </a:rPr>
              <a:t>5</a:t>
            </a:r>
            <a:r>
              <a:rPr lang="en-US" dirty="0" smtClean="0">
                <a:sym typeface="Wingdings" panose="05000000000000000000" pitchFamily="2" charset="2"/>
              </a:rPr>
              <a:t>” vào biến </a:t>
            </a:r>
            <a:r>
              <a:rPr lang="en-US" b="1" dirty="0" smtClean="0">
                <a:sym typeface="Wingdings" panose="05000000000000000000" pitchFamily="2" charset="2"/>
              </a:rPr>
              <a:t>var</a:t>
            </a:r>
            <a:r>
              <a:rPr lang="en-US" dirty="0" smtClean="0">
                <a:sym typeface="Wingdings" panose="05000000000000000000" pitchFamily="2" charset="2"/>
              </a:rPr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56061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Toán tử số học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16" y="2133600"/>
            <a:ext cx="6469328" cy="1905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1715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Toán tử so sánh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133600"/>
            <a:ext cx="6308035" cy="259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8511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Toán tử logic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232332263"/>
              </p:ext>
            </p:extLst>
          </p:nvPr>
        </p:nvGraphicFramePr>
        <p:xfrm>
          <a:off x="609600" y="1907441"/>
          <a:ext cx="7620000" cy="366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2552700"/>
                <a:gridCol w="1905000"/>
                <a:gridCol w="190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Toán</a:t>
                      </a:r>
                      <a:r>
                        <a:rPr lang="en-US" baseline="0" dirty="0" smtClean="0"/>
                        <a:t> tử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Giải</a:t>
                      </a:r>
                      <a:r>
                        <a:rPr lang="en-US" baseline="0" dirty="0" smtClean="0"/>
                        <a:t> thích ý nghĩa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Ví</a:t>
                      </a:r>
                      <a:r>
                        <a:rPr lang="en-US" baseline="0" dirty="0" smtClean="0"/>
                        <a:t> dụ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Kết</a:t>
                      </a:r>
                      <a:r>
                        <a:rPr lang="en-US" baseline="0" dirty="0" smtClean="0"/>
                        <a:t> quả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&amp;&amp;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AND: </a:t>
                      </a:r>
                      <a:r>
                        <a:rPr lang="en-US" b="0" dirty="0" smtClean="0"/>
                        <a:t>Trả</a:t>
                      </a:r>
                      <a:r>
                        <a:rPr lang="en-US" b="0" baseline="0" dirty="0" smtClean="0"/>
                        <a:t> về TRUE nếu các toán hạng đều TRUE, FALSE khi 1 trong các toán hạng FALSE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($a&lt;$b) &amp;&amp; ($tong&gt;200)</a:t>
                      </a:r>
                    </a:p>
                    <a:p>
                      <a:pPr algn="ctr"/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($a&gt;$b) &amp;&amp; ($tong&gt;200)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||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OR: </a:t>
                      </a:r>
                      <a:r>
                        <a:rPr lang="en-US" b="0" dirty="0" smtClean="0"/>
                        <a:t> Trả</a:t>
                      </a:r>
                      <a:r>
                        <a:rPr lang="en-US" b="0" baseline="0" dirty="0" smtClean="0"/>
                        <a:t> về TRUE nếu 1 trong các toán hạng là TRUE, trả về FALSE nếu các toán hạng đều sai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($a&lt;$b) ||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($tong&lt;200)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($a&gt;$b) ||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($tong&lt;200)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smtClean="0"/>
                        <a:t>FALSE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!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NOT</a:t>
                      </a:r>
                      <a:r>
                        <a:rPr lang="en-US" dirty="0" smtClean="0"/>
                        <a:t>: </a:t>
                      </a:r>
                      <a:r>
                        <a:rPr lang="en-US" b="0" dirty="0" smtClean="0"/>
                        <a:t>Trả</a:t>
                      </a:r>
                      <a:r>
                        <a:rPr lang="en-US" b="0" baseline="0" dirty="0" smtClean="0"/>
                        <a:t> về giá trị ngược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!($tong&lt;200)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2910" y="12954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 = 100;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$b = 200;				$tong = $a+$b;</a:t>
            </a:r>
          </a:p>
        </p:txBody>
      </p:sp>
    </p:spTree>
    <p:extLst>
      <p:ext uri="{BB962C8B-B14F-4D97-AF65-F5344CB8AC3E}">
        <p14:creationId xmlns="" xmlns:p14="http://schemas.microsoft.com/office/powerpoint/2010/main" val="67748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Toán tử kết hợp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336302926"/>
              </p:ext>
            </p:extLst>
          </p:nvPr>
        </p:nvGraphicFramePr>
        <p:xfrm>
          <a:off x="152400" y="1600200"/>
          <a:ext cx="8763000" cy="5697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577"/>
                <a:gridCol w="2546223"/>
                <a:gridCol w="2667000"/>
                <a:gridCol w="1981200"/>
              </a:tblGrid>
              <a:tr h="3388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Toán</a:t>
                      </a:r>
                      <a:r>
                        <a:rPr lang="en-US" baseline="0" dirty="0" smtClean="0"/>
                        <a:t> tử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Giải</a:t>
                      </a:r>
                      <a:r>
                        <a:rPr lang="en-US" baseline="0" dirty="0" smtClean="0"/>
                        <a:t> thích ý nghĩa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Ví</a:t>
                      </a:r>
                      <a:r>
                        <a:rPr lang="en-US" baseline="0" dirty="0" smtClean="0"/>
                        <a:t> dụ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Kết</a:t>
                      </a:r>
                      <a:r>
                        <a:rPr lang="en-US" baseline="0" dirty="0" smtClean="0"/>
                        <a:t> quả</a:t>
                      </a:r>
                      <a:endParaRPr lang="en-US" dirty="0"/>
                    </a:p>
                  </a:txBody>
                  <a:tcPr/>
                </a:tc>
              </a:tr>
              <a:tr h="49661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Tăng</a:t>
                      </a:r>
                      <a:r>
                        <a:rPr lang="en-US" b="0" baseline="0" dirty="0" smtClean="0"/>
                        <a:t> giá trị lên 1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$b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$a++;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$b = 3;</a:t>
                      </a:r>
                    </a:p>
                  </a:txBody>
                  <a:tcPr/>
                </a:tc>
              </a:tr>
              <a:tr h="3388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Giảm giá</a:t>
                      </a:r>
                      <a:r>
                        <a:rPr lang="en-US" b="0" baseline="0" dirty="0" smtClean="0"/>
                        <a:t> trị xuống 1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$b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$a--;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$b = 1;</a:t>
                      </a:r>
                    </a:p>
                  </a:txBody>
                  <a:tcPr/>
                </a:tc>
              </a:tr>
              <a:tr h="8354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+=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Tăng</a:t>
                      </a:r>
                      <a:r>
                        <a:rPr lang="en-US" baseline="0" dirty="0" smtClean="0"/>
                        <a:t> giá trị lên với 1 số bất kì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$a+=5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+mj-lt"/>
                          <a:cs typeface="Courier New" panose="02070309020205020404" pitchFamily="49" charset="0"/>
                        </a:rPr>
                        <a:t>Tương đương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$a+5;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7;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10860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Giảm</a:t>
                      </a:r>
                      <a:r>
                        <a:rPr lang="en-US" baseline="0" dirty="0" smtClean="0"/>
                        <a:t> giá </a:t>
                      </a:r>
                      <a:r>
                        <a:rPr lang="en-US" baseline="0" dirty="0" err="1" smtClean="0"/>
                        <a:t>trị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xuống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với</a:t>
                      </a:r>
                      <a:r>
                        <a:rPr lang="en-US" baseline="0" dirty="0" smtClean="0"/>
                        <a:t> 1 số </a:t>
                      </a:r>
                      <a:r>
                        <a:rPr lang="en-US" baseline="0" dirty="0" err="1" smtClean="0"/>
                        <a:t>bất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kì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$a-=5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+mj-lt"/>
                          <a:cs typeface="Courier New" panose="02070309020205020404" pitchFamily="49" charset="0"/>
                        </a:rPr>
                        <a:t>Tương đương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$a-5;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-3;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8354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*=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Nhân</a:t>
                      </a:r>
                      <a:r>
                        <a:rPr lang="en-US" baseline="0" dirty="0" smtClean="0"/>
                        <a:t> giá trị lên với 1 số bất kì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*=5;</a:t>
                      </a:r>
                    </a:p>
                    <a:p>
                      <a:pPr algn="ctr"/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Tương đương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$a*5;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10;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8354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/=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Chia </a:t>
                      </a:r>
                      <a:r>
                        <a:rPr lang="en-US" baseline="0" dirty="0" smtClean="0"/>
                        <a:t>giá trị cho với 1 số bất kì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/=5;</a:t>
                      </a:r>
                    </a:p>
                    <a:p>
                      <a:pPr algn="ctr"/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Tương đương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$a/5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0.4;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3881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Nối</a:t>
                      </a:r>
                      <a:r>
                        <a:rPr lang="en-US" baseline="0" dirty="0" smtClean="0"/>
                        <a:t> string </a:t>
                      </a:r>
                      <a:r>
                        <a:rPr lang="en-US" baseline="0" dirty="0" err="1" smtClean="0"/>
                        <a:t>với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một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chuỗi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bất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kì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helloWorld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.= </a:t>
                      </a:r>
                    </a:p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 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congnv</a:t>
                      </a:r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helloWorld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“HW </a:t>
                      </a:r>
                      <a:r>
                        <a:rPr lang="en-US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congnv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2308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 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			$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helloWorld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=“HW”;</a:t>
            </a:r>
          </a:p>
        </p:txBody>
      </p:sp>
    </p:spTree>
    <p:extLst>
      <p:ext uri="{BB962C8B-B14F-4D97-AF65-F5344CB8AC3E}">
        <p14:creationId xmlns="" xmlns:p14="http://schemas.microsoft.com/office/powerpoint/2010/main" val="126803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Kiểu dữ liệu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356678725"/>
              </p:ext>
            </p:extLst>
          </p:nvPr>
        </p:nvGraphicFramePr>
        <p:xfrm>
          <a:off x="457200" y="1828800"/>
          <a:ext cx="7620000" cy="459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586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Kiểu</a:t>
                      </a:r>
                      <a:r>
                        <a:rPr lang="en-US" baseline="0" dirty="0" smtClean="0"/>
                        <a:t> dữ liệu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Mô</a:t>
                      </a:r>
                      <a:r>
                        <a:rPr lang="en-US" baseline="0" dirty="0" smtClean="0"/>
                        <a:t> tả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Boolean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TRUE/FALSE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Giá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số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nguyên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âm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dương</a:t>
                      </a:r>
                      <a:r>
                        <a:rPr lang="en-US" baseline="0" dirty="0" smtClean="0"/>
                        <a:t> , </a:t>
                      </a:r>
                      <a:r>
                        <a:rPr lang="en-US" baseline="0" dirty="0" err="1" smtClean="0"/>
                        <a:t>ví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</a:t>
                      </a:r>
                      <a:r>
                        <a:rPr lang="en-US" baseline="0" dirty="0" smtClean="0"/>
                        <a:t> -4, 0, 4 </a:t>
                      </a:r>
                      <a:r>
                        <a:rPr lang="en-US" baseline="0" dirty="0" err="1" smtClean="0"/>
                        <a:t>là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số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nguyên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là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số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nằm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trong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khoảng</a:t>
                      </a:r>
                      <a:r>
                        <a:rPr lang="en-US" baseline="0" dirty="0" smtClean="0"/>
                        <a:t>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</a:t>
                      </a:r>
                      <a:r>
                        <a:rPr lang="en-US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2,147,483,647)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Số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thập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phân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ví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</a:t>
                      </a:r>
                      <a:r>
                        <a:rPr lang="en-US" baseline="0" dirty="0" smtClean="0"/>
                        <a:t> 10.365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Chuỗi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ngoặc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đơn</a:t>
                      </a:r>
                      <a:r>
                        <a:rPr lang="en-US" baseline="0" dirty="0" smtClean="0"/>
                        <a:t> (‘ ‘) </a:t>
                      </a:r>
                      <a:r>
                        <a:rPr lang="en-US" baseline="0" dirty="0" err="1" smtClean="0"/>
                        <a:t>hoặc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ngoặc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kép</a:t>
                      </a:r>
                      <a:r>
                        <a:rPr lang="en-US" baseline="0" dirty="0" smtClean="0"/>
                        <a:t> (“”)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biểu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thị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Kiểu</a:t>
                      </a:r>
                      <a:r>
                        <a:rPr lang="en-US" baseline="0" dirty="0" smtClean="0"/>
                        <a:t> đối tượng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Mảng,</a:t>
                      </a:r>
                      <a:r>
                        <a:rPr lang="en-US" baseline="0" dirty="0" smtClean="0"/>
                        <a:t> dùng để lưu nhiều giá trị trong 1 biến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 smtClean="0"/>
                        <a:t>Nếu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báo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biến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không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giá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trị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nó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sẽ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gán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biến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là</a:t>
                      </a:r>
                      <a:r>
                        <a:rPr lang="en-US" baseline="0" dirty="0" smtClean="0"/>
                        <a:t> NULL, </a:t>
                      </a:r>
                      <a:r>
                        <a:rPr lang="en-US" baseline="0" dirty="0" err="1" smtClean="0"/>
                        <a:t>ví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$a; </a:t>
                      </a:r>
                    </a:p>
                    <a:p>
                      <a:r>
                        <a:rPr lang="en-US" baseline="0" dirty="0" err="1" smtClean="0"/>
                        <a:t>Tương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đương</a:t>
                      </a:r>
                      <a:r>
                        <a:rPr lang="en-US" baseline="0" dirty="0" smtClean="0"/>
                        <a:t> $a = NULL;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43829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Cách khai báo kiểu dữ liệu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765601738"/>
              </p:ext>
            </p:extLst>
          </p:nvPr>
        </p:nvGraphicFramePr>
        <p:xfrm>
          <a:off x="457200" y="2209800"/>
          <a:ext cx="762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2895600"/>
                <a:gridCol w="3276600"/>
              </a:tblGrid>
              <a:tr h="363733">
                <a:tc>
                  <a:txBody>
                    <a:bodyPr/>
                    <a:lstStyle/>
                    <a:p>
                      <a:r>
                        <a:rPr lang="en-US" dirty="0" smtClean="0"/>
                        <a:t>Kiểu</a:t>
                      </a:r>
                      <a:r>
                        <a:rPr lang="en-US" baseline="0" dirty="0" smtClean="0"/>
                        <a:t> dữ liệu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Cách</a:t>
                      </a:r>
                      <a:r>
                        <a:rPr lang="en-US" baseline="0" dirty="0" smtClean="0"/>
                        <a:t> khai báo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Ví</a:t>
                      </a:r>
                      <a:r>
                        <a:rPr lang="en-US" baseline="0" dirty="0" smtClean="0"/>
                        <a:t> dụ cách k</a:t>
                      </a:r>
                      <a:r>
                        <a:rPr lang="en-US" dirty="0" smtClean="0"/>
                        <a:t>hai báo</a:t>
                      </a:r>
                      <a:endParaRPr lang="en-US" dirty="0"/>
                    </a:p>
                  </a:txBody>
                  <a:tcPr/>
                </a:tc>
              </a:tr>
              <a:tr h="363733">
                <a:tc>
                  <a:txBody>
                    <a:bodyPr/>
                    <a:lstStyle/>
                    <a:p>
                      <a:r>
                        <a:rPr lang="en-US" dirty="0" smtClean="0"/>
                        <a:t>Boolean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$tenbien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giatri;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TRUE;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363733">
                <a:tc>
                  <a:txBody>
                    <a:bodyPr/>
                    <a:lstStyle/>
                    <a:p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$tenbien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giatri;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6;</a:t>
                      </a:r>
                    </a:p>
                  </a:txBody>
                  <a:tcPr/>
                </a:tc>
              </a:tr>
              <a:tr h="363733">
                <a:tc>
                  <a:txBody>
                    <a:bodyPr/>
                    <a:lstStyle/>
                    <a:p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$tenbien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giatri;</a:t>
                      </a:r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4.5;</a:t>
                      </a:r>
                    </a:p>
                  </a:txBody>
                  <a:tcPr/>
                </a:tc>
              </a:tr>
              <a:tr h="363733">
                <a:tc>
                  <a:txBody>
                    <a:bodyPr/>
                    <a:lstStyle/>
                    <a:p>
                      <a:r>
                        <a:rPr lang="en-US" dirty="0" smtClean="0"/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$tenbien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giatri;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 “HelloWorld”;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627812">
                <a:tc>
                  <a:txBody>
                    <a:bodyPr/>
                    <a:lstStyle/>
                    <a:p>
                      <a:r>
                        <a:rPr lang="en-US" dirty="0" smtClean="0"/>
                        <a:t>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tenbien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new Class();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$a =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new Student();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</a:tr>
              <a:tr h="1973125">
                <a:tc>
                  <a:txBody>
                    <a:bodyPr/>
                    <a:lstStyle/>
                    <a:p>
                      <a:r>
                        <a:rPr lang="en-US" dirty="0" smtClean="0"/>
                        <a:t>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+mn-lt"/>
                          <a:cs typeface="Courier New" panose="02070309020205020404" pitchFamily="49" charset="0"/>
                        </a:rPr>
                        <a:t>//tạo</a:t>
                      </a:r>
                      <a:r>
                        <a:rPr lang="en-US" baseline="0" dirty="0" smtClean="0">
                          <a:latin typeface="+mn-lt"/>
                          <a:cs typeface="Courier New" panose="02070309020205020404" pitchFamily="49" charset="0"/>
                        </a:rPr>
                        <a:t> mảng</a:t>
                      </a:r>
                      <a:endParaRPr lang="en-US" dirty="0" smtClean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$tenbien =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[];</a:t>
                      </a:r>
                      <a:endParaRPr lang="en-US" baseline="0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aseline="0" dirty="0" smtClean="0"/>
                        <a:t>//gọi giá trị </a:t>
                      </a:r>
                    </a:p>
                    <a:p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US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tenbien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[$</a:t>
                      </a:r>
                      <a:r>
                        <a:rPr lang="en-US" baseline="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chimuc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//khởi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tạo</a:t>
                      </a:r>
                      <a:r>
                        <a:rPr lang="en-US" baseline="0" dirty="0" smtClean="0"/>
                        <a:t> mảng kiêm </a:t>
                      </a:r>
                      <a:r>
                        <a:rPr lang="en-US" dirty="0" smtClean="0"/>
                        <a:t>khởi</a:t>
                      </a:r>
                      <a:r>
                        <a:rPr lang="en-US" baseline="0" dirty="0" smtClean="0"/>
                        <a:t> tạo giá trị cho mảng</a:t>
                      </a:r>
                      <a:endParaRPr lang="en-US" sz="1800" b="0" i="0" kern="1200" dirty="0" smtClean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$cars = array("Volvo", "BMW", "Toyota");</a:t>
                      </a:r>
                    </a:p>
                    <a:p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//lấy giá trị của mảng</a:t>
                      </a:r>
                    </a:p>
                    <a:p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echo $cars[0];</a:t>
                      </a:r>
                      <a:r>
                        <a:rPr lang="en-US" baseline="0" dirty="0" smtClean="0"/>
                        <a:t>(kết quả là Volvo)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00931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Hằng số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Hằng là giá trị không thay đổi kể từ sau khi khai </a:t>
            </a:r>
            <a:r>
              <a:rPr lang="vi-VN" dirty="0" smtClean="0"/>
              <a:t>báo</a:t>
            </a:r>
            <a:r>
              <a:rPr lang="en-US" dirty="0" smtClean="0"/>
              <a:t>, khai báo hằng số như sau</a:t>
            </a:r>
          </a:p>
          <a:p>
            <a:endParaRPr lang="en-US" dirty="0"/>
          </a:p>
          <a:p>
            <a:pPr marL="114300" indent="0" algn="ctr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define(“tenbien”, giatri)</a:t>
            </a:r>
          </a:p>
          <a:p>
            <a:pPr marL="114300" indent="0">
              <a:buNone/>
            </a:pPr>
            <a:r>
              <a:rPr lang="en-US" dirty="0" smtClean="0">
                <a:cs typeface="Courier New" panose="02070309020205020404" pitchFamily="49" charset="0"/>
              </a:rPr>
              <a:t>Ví dụ</a:t>
            </a:r>
            <a:endParaRPr lang="en-US" dirty="0">
              <a:cs typeface="Courier New" panose="02070309020205020404" pitchFamily="49" charset="0"/>
            </a:endParaRPr>
          </a:p>
          <a:p>
            <a:pPr marL="11430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 algn="ctr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define(“ITEMPERPAGE”,6);</a:t>
            </a:r>
          </a:p>
          <a:p>
            <a:pPr marL="114300" indent="0" algn="ctr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cs typeface="Courier New" panose="02070309020205020404" pitchFamily="49" charset="0"/>
              </a:rPr>
              <a:t>Để in giá trị hằng số, chúng ta dùng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tenbien</a:t>
            </a:r>
          </a:p>
          <a:p>
            <a:pPr marL="114300" indent="0">
              <a:buNone/>
            </a:pPr>
            <a:r>
              <a:rPr lang="en-US" dirty="0" smtClean="0">
                <a:cs typeface="Courier New" panose="02070309020205020404" pitchFamily="49" charset="0"/>
              </a:rPr>
              <a:t>Ví dụ</a:t>
            </a:r>
          </a:p>
          <a:p>
            <a:pPr marL="11430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ITEMPERPAGE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 in ra 6</a:t>
            </a:r>
          </a:p>
          <a:p>
            <a:pPr marL="11430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114300" indent="0">
              <a:buNone/>
            </a:pPr>
            <a:r>
              <a:rPr lang="en-US" dirty="0" smtClean="0">
                <a:cs typeface="Courier New" panose="02070309020205020404" pitchFamily="49" charset="0"/>
                <a:sym typeface="Wingdings" panose="05000000000000000000" pitchFamily="2" charset="2"/>
              </a:rPr>
              <a:t>Chú ý không có dấu “$” ở trước tên hằng</a:t>
            </a: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0498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Câu lệnh rẽ nhánh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Trong PHP có 2 dạng rẽ nhánh: rẽ </a:t>
            </a:r>
            <a:r>
              <a:rPr lang="en-US" dirty="0" smtClean="0"/>
              <a:t>1 nhánh (if), hai </a:t>
            </a:r>
            <a:r>
              <a:rPr lang="en-US" dirty="0"/>
              <a:t>nhánh (</a:t>
            </a:r>
            <a:r>
              <a:rPr lang="en-US" dirty="0" smtClean="0"/>
              <a:t>if-else) </a:t>
            </a:r>
            <a:r>
              <a:rPr lang="en-US" dirty="0"/>
              <a:t>và rẽ nhiều </a:t>
            </a:r>
            <a:r>
              <a:rPr lang="en-US" dirty="0" smtClean="0"/>
              <a:t>nhánh (if-elseif-elseif...else) 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Lệnh rẽ nhánh là một trong những câu lệnh quan trọng nhất của tất cả các ngôn ngữ lập trình. Nó cho phép </a:t>
            </a:r>
            <a:r>
              <a:rPr lang="en-US" dirty="0" smtClean="0"/>
              <a:t>thực </a:t>
            </a:r>
            <a:r>
              <a:rPr lang="en-US" dirty="0"/>
              <a:t>thi một đoạn mã khi mà điều kiện chỉ định là đúng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41154338"/>
              </p:ext>
            </p:extLst>
          </p:nvPr>
        </p:nvGraphicFramePr>
        <p:xfrm>
          <a:off x="762000" y="3469640"/>
          <a:ext cx="72390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/>
                <a:gridCol w="2413000"/>
                <a:gridCol w="2413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nhánh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 nhánh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Nhiều</a:t>
                      </a:r>
                      <a:r>
                        <a:rPr lang="en-US" baseline="0" dirty="0" smtClean="0"/>
                        <a:t> nhánh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If(dieukien) {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endParaRPr lang="en-US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If(dieukien){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else{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If(dieukien1){</a:t>
                      </a:r>
                    </a:p>
                    <a:p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}else</a:t>
                      </a:r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if(dieukien2){</a:t>
                      </a:r>
                    </a:p>
                    <a:p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}else if(dieukien3){</a:t>
                      </a:r>
                    </a:p>
                    <a:p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 ...</a:t>
                      </a:r>
                    </a:p>
                    <a:p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Else{</a:t>
                      </a:r>
                    </a:p>
                    <a:p>
                      <a:endParaRPr lang="en-US" baseline="0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aseline="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49113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Ví 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 = 5;</a:t>
            </a:r>
          </a:p>
          <a:p>
            <a:pPr marL="11430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if($a == 5){</a:t>
            </a:r>
          </a:p>
          <a:p>
            <a:pPr marL="11430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echo “Bạn so sánh đúng rồi”;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430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lse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430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echo “Bạn so sánh sai rồi”;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7721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tắt</a:t>
            </a:r>
            <a:r>
              <a:rPr lang="en-US" dirty="0" smtClean="0"/>
              <a:t> (ternary)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Biểu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thức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so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sánh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Điều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kiện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đúng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Điều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kiện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Ví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dụ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như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14300" indent="0">
              <a:buNone/>
            </a:pP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$a = 5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430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== 5) ?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Bạn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đúng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rồi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 :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bạn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rồi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</a:p>
        </p:txBody>
      </p:sp>
    </p:spTree>
    <p:extLst>
      <p:ext uri="{BB962C8B-B14F-4D97-AF65-F5344CB8AC3E}">
        <p14:creationId xmlns="" xmlns:p14="http://schemas.microsoft.com/office/powerpoint/2010/main" val="396464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Switch..case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Cú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n: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Label1…</a:t>
            </a:r>
            <a:r>
              <a:rPr lang="en-US" dirty="0" err="1" smtClean="0"/>
              <a:t>labelN</a:t>
            </a:r>
            <a:r>
              <a:rPr lang="en-US" dirty="0" smtClean="0"/>
              <a:t>: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n, </a:t>
            </a:r>
            <a:r>
              <a:rPr lang="en-US" dirty="0" err="1" smtClean="0"/>
              <a:t>nếu</a:t>
            </a:r>
            <a:r>
              <a:rPr lang="en-US" dirty="0" smtClean="0"/>
              <a:t> n = </a:t>
            </a:r>
            <a:r>
              <a:rPr lang="en-US" dirty="0" err="1" smtClean="0"/>
              <a:t>labelN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code </a:t>
            </a:r>
            <a:r>
              <a:rPr lang="en-US" dirty="0" err="1" smtClean="0"/>
              <a:t>trong</a:t>
            </a:r>
            <a:r>
              <a:rPr lang="en-US" dirty="0" smtClean="0"/>
              <a:t> case </a:t>
            </a:r>
            <a:r>
              <a:rPr lang="en-US" dirty="0" err="1" smtClean="0"/>
              <a:t>labelN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,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b="1" dirty="0" smtClean="0"/>
              <a:t>break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code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case </a:t>
            </a:r>
            <a:r>
              <a:rPr lang="en-US" dirty="0" err="1" smtClean="0"/>
              <a:t>nọ</a:t>
            </a:r>
            <a:r>
              <a:rPr lang="en-US" dirty="0" smtClean="0"/>
              <a:t> sang case </a:t>
            </a:r>
            <a:r>
              <a:rPr lang="en-US" dirty="0" err="1" smtClean="0"/>
              <a:t>kia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r>
              <a:rPr lang="en-US" b="1" dirty="0" smtClean="0"/>
              <a:t>Default: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case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, code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b="1" dirty="0" smtClean="0"/>
              <a:t>default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endParaRPr lang="en-US" b="1" dirty="0" smtClean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1" y="1676400"/>
            <a:ext cx="4876800" cy="271390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8827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419948"/>
            <a:ext cx="3657600" cy="26381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81600" y="141763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ra</a:t>
            </a:r>
            <a:r>
              <a:rPr lang="en-US" dirty="0" smtClean="0"/>
              <a:t> 3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90397"/>
            <a:ext cx="3905250" cy="2647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5400" y="414099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ra</a:t>
            </a:r>
            <a:r>
              <a:rPr lang="en-US" dirty="0" smtClean="0"/>
              <a:t> “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1,2,3”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0892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browser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$a = 10;</a:t>
            </a:r>
          </a:p>
          <a:p>
            <a:pPr marL="114300" indent="0">
              <a:buNone/>
            </a:pPr>
            <a:r>
              <a:rPr lang="en-US" dirty="0" smtClean="0"/>
              <a:t>$b = 7;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i="1" dirty="0"/>
              <a:t>10 + 7 = 17</a:t>
            </a:r>
            <a:br>
              <a:rPr lang="en-US" i="1" dirty="0"/>
            </a:br>
            <a:r>
              <a:rPr lang="en-US" i="1" dirty="0"/>
              <a:t>10 - 7 = 3</a:t>
            </a:r>
            <a:br>
              <a:rPr lang="en-US" i="1" dirty="0"/>
            </a:br>
            <a:r>
              <a:rPr lang="en-US" i="1" dirty="0"/>
              <a:t>10 * 7 = 70</a:t>
            </a:r>
            <a:br>
              <a:rPr lang="en-US" i="1" dirty="0"/>
            </a:br>
            <a:r>
              <a:rPr lang="en-US" i="1" dirty="0"/>
              <a:t>10 / 7 = 1.4285714285714</a:t>
            </a:r>
            <a:br>
              <a:rPr lang="en-US" i="1" dirty="0"/>
            </a:br>
            <a:r>
              <a:rPr lang="en-US" i="1" dirty="0"/>
              <a:t>10 % 7 = 3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9434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Bài</a:t>
            </a:r>
            <a:r>
              <a:rPr lang="en-US" sz="4000" dirty="0" smtClean="0"/>
              <a:t> </a:t>
            </a:r>
            <a:r>
              <a:rPr lang="en-US" sz="4000" dirty="0" err="1" smtClean="0"/>
              <a:t>tập</a:t>
            </a:r>
            <a:r>
              <a:rPr lang="en-US" sz="4000" dirty="0" smtClean="0"/>
              <a:t> 2 (</a:t>
            </a:r>
            <a:r>
              <a:rPr lang="en-US" sz="4000" dirty="0" err="1" smtClean="0"/>
              <a:t>sử</a:t>
            </a:r>
            <a:r>
              <a:rPr lang="en-US" sz="4000" dirty="0" smtClean="0"/>
              <a:t> </a:t>
            </a:r>
            <a:r>
              <a:rPr lang="en-US" sz="4000" dirty="0" err="1" smtClean="0"/>
              <a:t>dụng</a:t>
            </a:r>
            <a:r>
              <a:rPr lang="en-US" sz="4000" dirty="0" smtClean="0"/>
              <a:t> </a:t>
            </a:r>
            <a:r>
              <a:rPr lang="en-US" sz="4000" dirty="0" err="1" smtClean="0"/>
              <a:t>toán</a:t>
            </a:r>
            <a:r>
              <a:rPr lang="en-US" sz="4000" dirty="0" smtClean="0"/>
              <a:t> </a:t>
            </a:r>
            <a:r>
              <a:rPr lang="en-US" sz="4000" dirty="0" err="1" smtClean="0"/>
              <a:t>tử</a:t>
            </a:r>
            <a:r>
              <a:rPr lang="en-US" sz="4000" dirty="0" smtClean="0"/>
              <a:t> so </a:t>
            </a:r>
            <a:r>
              <a:rPr lang="en-US" sz="4000" dirty="0" err="1" smtClean="0"/>
              <a:t>sánh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,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2 </a:t>
            </a:r>
            <a:r>
              <a:rPr lang="en-US" dirty="0" err="1" smtClean="0"/>
              <a:t>biến</a:t>
            </a:r>
            <a:r>
              <a:rPr lang="en-US" dirty="0" smtClean="0"/>
              <a:t> $a </a:t>
            </a:r>
            <a:r>
              <a:rPr lang="en-US" dirty="0" err="1" smtClean="0"/>
              <a:t>và</a:t>
            </a:r>
            <a:r>
              <a:rPr lang="en-US" dirty="0" smtClean="0"/>
              <a:t> $b ở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1</a:t>
            </a:r>
          </a:p>
          <a:p>
            <a:pPr marL="114300" indent="0">
              <a:buNone/>
            </a:pPr>
            <a:r>
              <a:rPr lang="en-US" dirty="0" smtClean="0"/>
              <a:t>$a = 10;</a:t>
            </a:r>
          </a:p>
          <a:p>
            <a:pPr marL="114300" indent="0">
              <a:buNone/>
            </a:pPr>
            <a:r>
              <a:rPr lang="en-US" dirty="0" smtClean="0"/>
              <a:t>$b = 7;</a:t>
            </a:r>
          </a:p>
          <a:p>
            <a:pPr marL="114300" indent="0">
              <a:buNone/>
            </a:pPr>
            <a:r>
              <a:rPr lang="en-US" dirty="0" smtClean="0"/>
              <a:t>$c =“10”;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$a == $c </a:t>
            </a:r>
            <a:r>
              <a:rPr lang="en-US" dirty="0" err="1" smtClean="0"/>
              <a:t>và</a:t>
            </a:r>
            <a:r>
              <a:rPr lang="en-US" dirty="0" smtClean="0"/>
              <a:t> $a===$c</a:t>
            </a:r>
          </a:p>
          <a:p>
            <a:pPr marL="114300" indent="0">
              <a:buNone/>
            </a:pPr>
            <a:r>
              <a:rPr lang="en-US" dirty="0" smtClean="0"/>
              <a:t>So </a:t>
            </a:r>
            <a:r>
              <a:rPr lang="en-US" smtClean="0"/>
              <a:t>sánh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$a+$b </a:t>
            </a:r>
            <a:r>
              <a:rPr lang="en-US" dirty="0" err="1" smtClean="0"/>
              <a:t>với</a:t>
            </a:r>
            <a:r>
              <a:rPr lang="en-US" dirty="0" smtClean="0"/>
              <a:t> 18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True,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False</a:t>
            </a:r>
          </a:p>
        </p:txBody>
      </p:sp>
    </p:spTree>
    <p:extLst>
      <p:ext uri="{BB962C8B-B14F-4D97-AF65-F5344CB8AC3E}">
        <p14:creationId xmlns="" xmlns:p14="http://schemas.microsoft.com/office/powerpoint/2010/main" val="28778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Bài</a:t>
            </a:r>
            <a:r>
              <a:rPr lang="en-US" sz="4000" dirty="0" smtClean="0"/>
              <a:t> </a:t>
            </a:r>
            <a:r>
              <a:rPr lang="en-US" sz="4000" dirty="0" err="1" smtClean="0"/>
              <a:t>tập</a:t>
            </a:r>
            <a:r>
              <a:rPr lang="en-US" sz="4000" dirty="0" smtClean="0"/>
              <a:t> 3 (</a:t>
            </a:r>
            <a:r>
              <a:rPr lang="en-US" sz="4000" dirty="0" err="1" smtClean="0"/>
              <a:t>sử</a:t>
            </a:r>
            <a:r>
              <a:rPr lang="en-US" sz="4000" dirty="0" smtClean="0"/>
              <a:t> </a:t>
            </a:r>
            <a:r>
              <a:rPr lang="en-US" sz="4000" dirty="0" err="1" smtClean="0"/>
              <a:t>dụng</a:t>
            </a:r>
            <a:r>
              <a:rPr lang="en-US" sz="4000" dirty="0" smtClean="0"/>
              <a:t> </a:t>
            </a:r>
            <a:r>
              <a:rPr lang="en-US" sz="4000" dirty="0" err="1" smtClean="0"/>
              <a:t>toán</a:t>
            </a:r>
            <a:r>
              <a:rPr lang="en-US" sz="4000" dirty="0" smtClean="0"/>
              <a:t> </a:t>
            </a:r>
            <a:r>
              <a:rPr lang="en-US" sz="4000" dirty="0" err="1" smtClean="0"/>
              <a:t>tử</a:t>
            </a:r>
            <a:r>
              <a:rPr lang="en-US" sz="4000" dirty="0" smtClean="0"/>
              <a:t> logic)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,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2 </a:t>
            </a:r>
            <a:r>
              <a:rPr lang="en-US" dirty="0" err="1" smtClean="0"/>
              <a:t>biến</a:t>
            </a:r>
            <a:r>
              <a:rPr lang="en-US" dirty="0" smtClean="0"/>
              <a:t> $a </a:t>
            </a:r>
            <a:r>
              <a:rPr lang="en-US" dirty="0" err="1" smtClean="0"/>
              <a:t>và</a:t>
            </a:r>
            <a:r>
              <a:rPr lang="en-US" dirty="0" smtClean="0"/>
              <a:t> $b ở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1</a:t>
            </a:r>
          </a:p>
          <a:p>
            <a:pPr marL="114300" indent="0">
              <a:buNone/>
            </a:pPr>
            <a:r>
              <a:rPr lang="en-US" dirty="0" smtClean="0"/>
              <a:t>$a = 10;</a:t>
            </a:r>
          </a:p>
          <a:p>
            <a:pPr marL="114300" indent="0">
              <a:buNone/>
            </a:pPr>
            <a:r>
              <a:rPr lang="en-US" dirty="0" smtClean="0"/>
              <a:t>$b = 7;</a:t>
            </a:r>
          </a:p>
          <a:p>
            <a:pPr marL="114300" indent="0">
              <a:buNone/>
            </a:pPr>
            <a:r>
              <a:rPr lang="en-US" dirty="0" smtClean="0"/>
              <a:t>$c = true;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($a+$b &gt; 18) </a:t>
            </a:r>
            <a:r>
              <a:rPr lang="en-US" dirty="0" err="1" smtClean="0"/>
              <a:t>và</a:t>
            </a:r>
            <a:r>
              <a:rPr lang="en-US" dirty="0" smtClean="0"/>
              <a:t> $c = false</a:t>
            </a:r>
          </a:p>
          <a:p>
            <a:pPr marL="114300" indent="0">
              <a:buNone/>
            </a:pP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($a+$b </a:t>
            </a:r>
            <a:r>
              <a:rPr lang="en-US" dirty="0" smtClean="0"/>
              <a:t>= 17) </a:t>
            </a:r>
            <a:r>
              <a:rPr lang="en-US" dirty="0" err="1" smtClean="0"/>
              <a:t>hoặc</a:t>
            </a:r>
            <a:r>
              <a:rPr lang="en-US" dirty="0" smtClean="0"/>
              <a:t> $c </a:t>
            </a:r>
            <a:r>
              <a:rPr lang="en-US" dirty="0"/>
              <a:t>= false</a:t>
            </a:r>
          </a:p>
          <a:p>
            <a:pPr marL="114300" indent="0">
              <a:buNone/>
            </a:pP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“</a:t>
            </a:r>
            <a:r>
              <a:rPr lang="en-US" dirty="0" err="1" smtClean="0"/>
              <a:t>phủ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/>
              <a:t> </a:t>
            </a:r>
            <a:r>
              <a:rPr lang="en-US" dirty="0" smtClean="0"/>
              <a:t>$c”</a:t>
            </a:r>
            <a:endParaRPr lang="en-US" dirty="0"/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True,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False</a:t>
            </a:r>
          </a:p>
        </p:txBody>
      </p:sp>
    </p:spTree>
    <p:extLst>
      <p:ext uri="{BB962C8B-B14F-4D97-AF65-F5344CB8AC3E}">
        <p14:creationId xmlns="" xmlns:p14="http://schemas.microsoft.com/office/powerpoint/2010/main" val="334462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 smtClean="0"/>
              <a:t>Bài</a:t>
            </a:r>
            <a:r>
              <a:rPr lang="en-US" sz="3200" dirty="0" smtClean="0"/>
              <a:t> </a:t>
            </a:r>
            <a:r>
              <a:rPr lang="en-US" sz="3200" dirty="0" err="1" smtClean="0"/>
              <a:t>tập</a:t>
            </a:r>
            <a:r>
              <a:rPr lang="en-US" sz="3200" dirty="0" smtClean="0"/>
              <a:t> 4 (</a:t>
            </a:r>
            <a:r>
              <a:rPr lang="en-US" sz="3200" dirty="0" err="1" smtClean="0"/>
              <a:t>sử</a:t>
            </a:r>
            <a:r>
              <a:rPr lang="en-US" sz="3200" dirty="0" smtClean="0"/>
              <a:t> </a:t>
            </a:r>
            <a:r>
              <a:rPr lang="en-US" sz="3200" dirty="0" err="1" smtClean="0"/>
              <a:t>dụng</a:t>
            </a:r>
            <a:r>
              <a:rPr lang="en-US" sz="3200" dirty="0" smtClean="0"/>
              <a:t> </a:t>
            </a:r>
            <a:r>
              <a:rPr lang="en-US" sz="3200" dirty="0" err="1" smtClean="0"/>
              <a:t>var_dump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In </a:t>
            </a:r>
            <a:r>
              <a:rPr lang="en-US" i="1" dirty="0" err="1" smtClean="0"/>
              <a:t>ra</a:t>
            </a:r>
            <a:r>
              <a:rPr lang="en-US" i="1" dirty="0" smtClean="0"/>
              <a:t> </a:t>
            </a:r>
            <a:r>
              <a:rPr lang="en-US" i="1" dirty="0" err="1" smtClean="0"/>
              <a:t>giá</a:t>
            </a:r>
            <a:r>
              <a:rPr lang="en-US" i="1" dirty="0" smtClean="0"/>
              <a:t> </a:t>
            </a:r>
            <a:r>
              <a:rPr lang="en-US" i="1" dirty="0" err="1" smtClean="0"/>
              <a:t>trị</a:t>
            </a:r>
            <a:r>
              <a:rPr lang="en-US" i="1" dirty="0" smtClean="0"/>
              <a:t> </a:t>
            </a:r>
            <a:r>
              <a:rPr lang="en-US" i="1" dirty="0" err="1" smtClean="0"/>
              <a:t>và</a:t>
            </a:r>
            <a:r>
              <a:rPr lang="en-US" i="1" dirty="0" smtClean="0"/>
              <a:t> </a:t>
            </a:r>
            <a:r>
              <a:rPr lang="en-US" i="1" dirty="0" err="1" smtClean="0"/>
              <a:t>kiểu</a:t>
            </a:r>
            <a:r>
              <a:rPr lang="en-US" i="1" dirty="0" smtClean="0"/>
              <a:t> </a:t>
            </a:r>
            <a:r>
              <a:rPr lang="en-US" i="1" dirty="0" err="1" smtClean="0"/>
              <a:t>dữ</a:t>
            </a:r>
            <a:r>
              <a:rPr lang="en-US" i="1" dirty="0" smtClean="0"/>
              <a:t> </a:t>
            </a:r>
            <a:r>
              <a:rPr lang="en-US" i="1" dirty="0" err="1" smtClean="0"/>
              <a:t>liệu</a:t>
            </a:r>
            <a:r>
              <a:rPr lang="en-US" i="1" dirty="0" smtClean="0"/>
              <a:t> </a:t>
            </a:r>
            <a:r>
              <a:rPr lang="en-US" i="1" dirty="0" err="1" smtClean="0"/>
              <a:t>của</a:t>
            </a:r>
            <a:r>
              <a:rPr lang="en-US" i="1" dirty="0" smtClean="0"/>
              <a:t> </a:t>
            </a:r>
            <a:r>
              <a:rPr lang="en-US" i="1" dirty="0" err="1" smtClean="0"/>
              <a:t>biến</a:t>
            </a:r>
            <a:r>
              <a:rPr lang="en-US" i="1" dirty="0" smtClean="0"/>
              <a:t>. </a:t>
            </a:r>
            <a:r>
              <a:rPr lang="en-US" i="1" dirty="0" err="1" smtClean="0"/>
              <a:t>Ví</a:t>
            </a:r>
            <a:r>
              <a:rPr lang="en-US" i="1" dirty="0" smtClean="0"/>
              <a:t> </a:t>
            </a:r>
            <a:r>
              <a:rPr lang="en-US" i="1" dirty="0" err="1" smtClean="0"/>
              <a:t>dụ</a:t>
            </a:r>
            <a:r>
              <a:rPr lang="en-US" i="1" dirty="0" smtClean="0"/>
              <a:t> </a:t>
            </a:r>
            <a:r>
              <a:rPr lang="en-US" i="1" dirty="0" err="1" smtClean="0"/>
              <a:t>như</a:t>
            </a:r>
            <a:r>
              <a:rPr lang="en-US" i="1" dirty="0" smtClean="0"/>
              <a:t> </a:t>
            </a:r>
            <a:r>
              <a:rPr lang="en-US" i="1" dirty="0" err="1" smtClean="0"/>
              <a:t>sau</a:t>
            </a:r>
            <a:r>
              <a:rPr lang="en-US" i="1" dirty="0" smtClean="0"/>
              <a:t>:</a:t>
            </a:r>
          </a:p>
          <a:p>
            <a:pPr marL="114300" indent="0">
              <a:buNone/>
            </a:pPr>
            <a:endParaRPr lang="en-US" i="1" dirty="0" smtClean="0"/>
          </a:p>
          <a:p>
            <a:pPr marL="114300" indent="0">
              <a:buNone/>
            </a:pPr>
            <a:r>
              <a:rPr lang="en-US" i="1" dirty="0" err="1" smtClean="0"/>
              <a:t>Nhập</a:t>
            </a:r>
            <a:r>
              <a:rPr lang="en-US" i="1" dirty="0" smtClean="0"/>
              <a:t> </a:t>
            </a:r>
            <a:r>
              <a:rPr lang="en-US" i="1" dirty="0" err="1" smtClean="0"/>
              <a:t>chuỗi</a:t>
            </a:r>
            <a:r>
              <a:rPr lang="en-US" i="1" dirty="0" smtClean="0"/>
              <a:t> Harry</a:t>
            </a:r>
          </a:p>
          <a:p>
            <a:pPr marL="114300" indent="0">
              <a:buNone/>
            </a:pPr>
            <a:endParaRPr lang="en-US" i="1" dirty="0"/>
          </a:p>
          <a:p>
            <a:pPr marL="114300" indent="0">
              <a:buNone/>
            </a:pPr>
            <a:r>
              <a:rPr lang="en-US" i="1" dirty="0" err="1" smtClean="0"/>
              <a:t>Kết</a:t>
            </a:r>
            <a:r>
              <a:rPr lang="en-US" i="1" dirty="0" smtClean="0"/>
              <a:t> </a:t>
            </a:r>
            <a:r>
              <a:rPr lang="en-US" i="1" dirty="0" err="1" smtClean="0"/>
              <a:t>quả</a:t>
            </a:r>
            <a:r>
              <a:rPr lang="en-US" i="1" dirty="0" smtClean="0"/>
              <a:t> </a:t>
            </a:r>
            <a:r>
              <a:rPr lang="en-US" i="1" dirty="0" err="1" smtClean="0"/>
              <a:t>là</a:t>
            </a:r>
            <a:r>
              <a:rPr lang="en-US" i="1" dirty="0" smtClean="0"/>
              <a:t> string(5</a:t>
            </a:r>
            <a:r>
              <a:rPr lang="en-US" i="1" dirty="0"/>
              <a:t>) "</a:t>
            </a:r>
            <a:r>
              <a:rPr lang="en-US" i="1" dirty="0" smtClean="0"/>
              <a:t>Harry“;</a:t>
            </a:r>
            <a:r>
              <a:rPr lang="en-US" i="1" dirty="0"/>
              <a:t/>
            </a:r>
            <a:br>
              <a:rPr lang="en-US" i="1" dirty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 err="1" smtClean="0"/>
              <a:t>nhập</a:t>
            </a:r>
            <a:r>
              <a:rPr lang="en-US" i="1" dirty="0" smtClean="0"/>
              <a:t> </a:t>
            </a:r>
            <a:r>
              <a:rPr lang="en-US" i="1" dirty="0" err="1" smtClean="0"/>
              <a:t>số</a:t>
            </a:r>
            <a:r>
              <a:rPr lang="en-US" i="1" dirty="0" smtClean="0"/>
              <a:t> 28462;</a:t>
            </a:r>
          </a:p>
          <a:p>
            <a:pPr marL="114300" indent="0">
              <a:buNone/>
            </a:pPr>
            <a:endParaRPr lang="en-US" i="1" dirty="0"/>
          </a:p>
          <a:p>
            <a:pPr marL="114300" indent="0">
              <a:buNone/>
            </a:pPr>
            <a:r>
              <a:rPr lang="en-US" i="1" dirty="0" err="1" smtClean="0"/>
              <a:t>Kết</a:t>
            </a:r>
            <a:r>
              <a:rPr lang="en-US" i="1" dirty="0" smtClean="0"/>
              <a:t> </a:t>
            </a:r>
            <a:r>
              <a:rPr lang="en-US" i="1" dirty="0" err="1" smtClean="0"/>
              <a:t>quả</a:t>
            </a:r>
            <a:r>
              <a:rPr lang="en-US" i="1" dirty="0" smtClean="0"/>
              <a:t> </a:t>
            </a:r>
            <a:r>
              <a:rPr lang="en-US" i="1" dirty="0" err="1" smtClean="0"/>
              <a:t>là</a:t>
            </a:r>
            <a:r>
              <a:rPr lang="en-US" i="1" dirty="0" smtClean="0"/>
              <a:t> </a:t>
            </a:r>
            <a:r>
              <a:rPr lang="en-US" i="1" dirty="0" err="1" smtClean="0"/>
              <a:t>int</a:t>
            </a:r>
            <a:r>
              <a:rPr lang="en-US" i="1" dirty="0" smtClean="0"/>
              <a:t>(28462);</a:t>
            </a:r>
            <a:r>
              <a:rPr lang="en-US" i="1" dirty="0"/>
              <a:t/>
            </a:r>
            <a:br>
              <a:rPr lang="en-US" i="1" dirty="0"/>
            </a:br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443297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Bài</a:t>
            </a:r>
            <a:r>
              <a:rPr lang="en-US" sz="3600" dirty="0" smtClean="0"/>
              <a:t> </a:t>
            </a:r>
            <a:r>
              <a:rPr lang="en-US" sz="3600" dirty="0" err="1" smtClean="0"/>
              <a:t>tập</a:t>
            </a:r>
            <a:r>
              <a:rPr lang="en-US" sz="3600" dirty="0" smtClean="0"/>
              <a:t> </a:t>
            </a:r>
            <a:r>
              <a:rPr lang="en-US" sz="3600" dirty="0"/>
              <a:t>5</a:t>
            </a:r>
            <a:r>
              <a:rPr lang="en-US" sz="3600" dirty="0" smtClean="0"/>
              <a:t> (conditional statement)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 err="1" smtClean="0"/>
              <a:t>Viết</a:t>
            </a:r>
            <a:r>
              <a:rPr lang="en-US" dirty="0" smtClean="0"/>
              <a:t> script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,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August </a:t>
            </a:r>
            <a:r>
              <a:rPr lang="en-US" dirty="0" err="1" smtClean="0"/>
              <a:t>thì</a:t>
            </a:r>
            <a:r>
              <a:rPr lang="en-US" dirty="0" smtClean="0"/>
              <a:t> in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i="1" dirty="0" smtClean="0"/>
              <a:t>. It's </a:t>
            </a:r>
            <a:r>
              <a:rPr lang="en-US" i="1" dirty="0"/>
              <a:t>August, so it's really hot</a:t>
            </a:r>
            <a:r>
              <a:rPr lang="en-US" i="1" dirty="0" smtClean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August </a:t>
            </a:r>
            <a:r>
              <a:rPr lang="en-US" dirty="0" err="1" smtClean="0"/>
              <a:t>thì</a:t>
            </a:r>
            <a:r>
              <a:rPr lang="en-US" dirty="0" smtClean="0"/>
              <a:t> in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 marL="11430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. </a:t>
            </a:r>
            <a:r>
              <a:rPr lang="en-US" i="1" dirty="0" smtClean="0"/>
              <a:t>Not </a:t>
            </a:r>
            <a:r>
              <a:rPr lang="en-US" i="1" dirty="0"/>
              <a:t>August, so at least not in the peak of the heat.</a:t>
            </a:r>
          </a:p>
        </p:txBody>
      </p:sp>
    </p:spTree>
    <p:extLst>
      <p:ext uri="{BB962C8B-B14F-4D97-AF65-F5344CB8AC3E}">
        <p14:creationId xmlns="" xmlns:p14="http://schemas.microsoft.com/office/powerpoint/2010/main" val="21189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tháng</a:t>
            </a:r>
            <a:r>
              <a:rPr lang="en-US" dirty="0" smtClean="0"/>
              <a:t> (do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).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tháng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tháng</a:t>
            </a:r>
            <a:r>
              <a:rPr lang="en-US" dirty="0" smtClean="0"/>
              <a:t> 1,3,5,7,8,10,12 </a:t>
            </a:r>
            <a:r>
              <a:rPr lang="en-US" dirty="0" err="1" smtClean="0"/>
              <a:t>thì</a:t>
            </a:r>
            <a:r>
              <a:rPr lang="en-US" dirty="0" smtClean="0"/>
              <a:t> in </a:t>
            </a:r>
            <a:r>
              <a:rPr lang="en-US" dirty="0" err="1" smtClean="0"/>
              <a:t>ra</a:t>
            </a:r>
            <a:r>
              <a:rPr lang="en-US" dirty="0" smtClean="0"/>
              <a:t> “</a:t>
            </a:r>
            <a:r>
              <a:rPr lang="en-US" dirty="0" err="1" smtClean="0"/>
              <a:t>Có</a:t>
            </a:r>
            <a:r>
              <a:rPr lang="en-US" dirty="0" smtClean="0"/>
              <a:t> 31 </a:t>
            </a:r>
            <a:r>
              <a:rPr lang="en-US" dirty="0" err="1" smtClean="0"/>
              <a:t>ngày</a:t>
            </a:r>
            <a:r>
              <a:rPr lang="en-US" dirty="0" smtClean="0"/>
              <a:t>”</a:t>
            </a:r>
          </a:p>
          <a:p>
            <a:pPr marL="11430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tháng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tháng</a:t>
            </a:r>
            <a:r>
              <a:rPr lang="en-US" dirty="0" smtClean="0"/>
              <a:t> 4,6,9,11 </a:t>
            </a:r>
            <a:r>
              <a:rPr lang="en-US" dirty="0" err="1" smtClean="0"/>
              <a:t>thì</a:t>
            </a:r>
            <a:r>
              <a:rPr lang="en-US" dirty="0" smtClean="0"/>
              <a:t> in </a:t>
            </a:r>
            <a:r>
              <a:rPr lang="en-US" dirty="0" err="1" smtClean="0"/>
              <a:t>ra</a:t>
            </a:r>
            <a:r>
              <a:rPr lang="en-US" dirty="0" smtClean="0"/>
              <a:t> “</a:t>
            </a:r>
            <a:r>
              <a:rPr lang="en-US" dirty="0" err="1" smtClean="0"/>
              <a:t>Có</a:t>
            </a:r>
            <a:r>
              <a:rPr lang="en-US" dirty="0" smtClean="0"/>
              <a:t> 30 </a:t>
            </a:r>
            <a:r>
              <a:rPr lang="en-US" dirty="0" err="1" smtClean="0"/>
              <a:t>ngày</a:t>
            </a:r>
            <a:r>
              <a:rPr lang="en-US" dirty="0" smtClean="0"/>
              <a:t>”</a:t>
            </a:r>
          </a:p>
          <a:p>
            <a:pPr marL="11430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tháng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tháng</a:t>
            </a:r>
            <a:r>
              <a:rPr lang="en-US" dirty="0" smtClean="0"/>
              <a:t> 2 </a:t>
            </a:r>
            <a:r>
              <a:rPr lang="en-US" dirty="0" err="1" smtClean="0"/>
              <a:t>thì</a:t>
            </a:r>
            <a:r>
              <a:rPr lang="en-US" dirty="0" smtClean="0"/>
              <a:t> in </a:t>
            </a:r>
            <a:r>
              <a:rPr lang="en-US" dirty="0" err="1" smtClean="0"/>
              <a:t>ra</a:t>
            </a:r>
            <a:r>
              <a:rPr lang="en-US" dirty="0" smtClean="0"/>
              <a:t> “</a:t>
            </a:r>
            <a:r>
              <a:rPr lang="en-US" dirty="0" err="1" smtClean="0"/>
              <a:t>Có</a:t>
            </a:r>
            <a:r>
              <a:rPr lang="en-US" dirty="0" smtClean="0"/>
              <a:t> 28 </a:t>
            </a:r>
            <a:r>
              <a:rPr lang="en-US" dirty="0" err="1" smtClean="0"/>
              <a:t>hoặc</a:t>
            </a:r>
            <a:r>
              <a:rPr lang="en-US" dirty="0" smtClean="0"/>
              <a:t> 29 </a:t>
            </a:r>
            <a:r>
              <a:rPr lang="en-US" dirty="0" err="1" smtClean="0"/>
              <a:t>ngày</a:t>
            </a:r>
            <a:r>
              <a:rPr lang="en-US" dirty="0" smtClean="0"/>
              <a:t>”.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065582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1532</TotalTime>
  <Words>1858</Words>
  <Application>Microsoft Office PowerPoint</Application>
  <PresentationFormat>On-screen Show (4:3)</PresentationFormat>
  <Paragraphs>335</Paragraphs>
  <Slides>25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Adjacency</vt:lpstr>
      <vt:lpstr>Khóa đào tạo Lập trình Web sử dụng PHP</vt:lpstr>
      <vt:lpstr>Day 2: Những câu lệnh cơ bản</vt:lpstr>
      <vt:lpstr>1. Cách khai báo</vt:lpstr>
      <vt:lpstr>Slide 4</vt:lpstr>
      <vt:lpstr>Quy tắc đặt tên</vt:lpstr>
      <vt:lpstr>Slide 6</vt:lpstr>
      <vt:lpstr>2. Toán tử cơ bản</vt:lpstr>
      <vt:lpstr>Toán tử số học</vt:lpstr>
      <vt:lpstr>Toán tử so sánh</vt:lpstr>
      <vt:lpstr>Toán tử logic</vt:lpstr>
      <vt:lpstr>Toán tử kết hợp</vt:lpstr>
      <vt:lpstr>3. Kiểu dữ liệu</vt:lpstr>
      <vt:lpstr>Slide 13</vt:lpstr>
      <vt:lpstr>3. Hằng số</vt:lpstr>
      <vt:lpstr>4. Câu lệnh rẽ nhánh</vt:lpstr>
      <vt:lpstr>Ví dụ</vt:lpstr>
      <vt:lpstr>Viết tắt (ternary)</vt:lpstr>
      <vt:lpstr>Switch..case</vt:lpstr>
      <vt:lpstr>Ví dụ</vt:lpstr>
      <vt:lpstr>Bài tập 1</vt:lpstr>
      <vt:lpstr>Bài tập 2 (sử dụng toán tử so sánh)</vt:lpstr>
      <vt:lpstr>Bài tập 3 (sử dụng toán tử logic)</vt:lpstr>
      <vt:lpstr>Bài tập 4 (sử dụng var_dump)</vt:lpstr>
      <vt:lpstr>Bài tập 5 (conditional statement)</vt:lpstr>
      <vt:lpstr>Bài tập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Dai Phong</cp:lastModifiedBy>
  <cp:revision>569</cp:revision>
  <dcterms:created xsi:type="dcterms:W3CDTF">2014-12-22T07:12:12Z</dcterms:created>
  <dcterms:modified xsi:type="dcterms:W3CDTF">2016-07-27T13:11:56Z</dcterms:modified>
</cp:coreProperties>
</file>